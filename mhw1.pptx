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61" r:id="rId2"/>
    <p:sldId id="256" r:id="rId3"/>
    <p:sldId id="263" r:id="rId4"/>
    <p:sldId id="257" r:id="rId5"/>
    <p:sldId id="260" r:id="rId6"/>
    <p:sldId id="264" r:id="rId7"/>
    <p:sldId id="258" r:id="rId8"/>
    <p:sldId id="266" r:id="rId9"/>
    <p:sldId id="259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EE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76279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DD70B9AA-E97F-469F-B5EA-A70FFAA4D751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63575" y="3226820"/>
            <a:ext cx="3859795" cy="304801"/>
          </a:xfrm>
        </p:spPr>
        <p:txBody>
          <a:bodyPr anchor="b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it-IT"/>
          </a:p>
        </p:txBody>
      </p:sp>
      <p:sp>
        <p:nvSpPr>
          <p:cNvPr id="17" name="Rectangle 16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/>
            </a:lvl1pPr>
          </a:lstStyle>
          <a:p>
            <a:fld id="{E65C9EE8-E0E0-4F84-B0D7-5C3E81144D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5475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B9AA-E97F-469F-B5EA-A70FFAA4D751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C9EE8-E0E0-4F84-B0D7-5C3E81144D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4149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4"/>
            <a:ext cx="4351023" cy="2283823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B9AA-E97F-469F-B5EA-A70FFAA4D751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C9EE8-E0E0-4F84-B0D7-5C3E81144D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8932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1368" y="2603500"/>
            <a:ext cx="4828744" cy="3416301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1" y="2603500"/>
            <a:ext cx="4825159" cy="3377705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B9AA-E97F-469F-B5EA-A70FFAA4D751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C9EE8-E0E0-4F84-B0D7-5C3E81144D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11233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36063"/>
            <a:ext cx="48251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212326"/>
            <a:ext cx="4825158" cy="2807476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1" y="2603499"/>
            <a:ext cx="4825160" cy="60882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212327"/>
            <a:ext cx="4825159" cy="2807474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B9AA-E97F-469F-B5EA-A70FFAA4D751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C9EE8-E0E0-4F84-B0D7-5C3E81144D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80296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B9AA-E97F-469F-B5EA-A70FFAA4D751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C9EE8-E0E0-4F84-B0D7-5C3E81144D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1312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B9AA-E97F-469F-B5EA-A70FFAA4D751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Rectangle 5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C9EE8-E0E0-4F84-B0D7-5C3E81144D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0210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B9AA-E97F-469F-B5EA-A70FFAA4D751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C9EE8-E0E0-4F84-B0D7-5C3E81144D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72855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2" y="1143000"/>
            <a:ext cx="3227192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B9AA-E97F-469F-B5EA-A70FFAA4D751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C9EE8-E0E0-4F84-B0D7-5C3E81144D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7677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5945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2683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B9AA-E97F-469F-B5EA-A70FFAA4D751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C9EE8-E0E0-4F84-B0D7-5C3E81144D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0128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B9AA-E97F-469F-B5EA-A70FFAA4D751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C9EE8-E0E0-4F84-B0D7-5C3E81144D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8821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TextBox 10"/>
          <p:cNvSpPr txBox="1"/>
          <p:nvPr/>
        </p:nvSpPr>
        <p:spPr bwMode="gray">
          <a:xfrm>
            <a:off x="898295" y="603589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705137" y="261378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705034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86515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14393"/>
            <a:ext cx="8825659" cy="101266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B9AA-E97F-469F-B5EA-A70FFAA4D751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24" name="Rectangle 23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C9EE8-E0E0-4F84-B0D7-5C3E81144D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42421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2404477"/>
            <a:ext cx="8825659" cy="178870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8587" y="5024967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B9AA-E97F-469F-B5EA-A70FFAA4D751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2" name="Rectangle 11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C9EE8-E0E0-4F84-B0D7-5C3E81144D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50032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09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87261"/>
            <a:ext cx="3129168" cy="28397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10999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87261"/>
            <a:ext cx="3145380" cy="28397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1" y="2603500"/>
            <a:ext cx="315744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87261"/>
            <a:ext cx="3161029" cy="283979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B9AA-E97F-469F-B5EA-A70FFAA4D751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C9EE8-E0E0-4F84-B0D7-5C3E81144D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9036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20744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1246"/>
            <a:ext cx="2691242" cy="158376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20745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42840"/>
            <a:ext cx="2691242" cy="155217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7"/>
            <a:ext cx="3050438" cy="92140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18992"/>
            <a:ext cx="2691242" cy="157601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09107"/>
            <a:ext cx="3054127" cy="89634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B9AA-E97F-469F-B5EA-A70FFAA4D751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C9EE8-E0E0-4F84-B0D7-5C3E81144D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2924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B9AA-E97F-469F-B5EA-A70FFAA4D751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C9EE8-E0E0-4F84-B0D7-5C3E81144D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12704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97430"/>
            <a:ext cx="1409965" cy="4729626"/>
          </a:xfrm>
        </p:spPr>
        <p:txBody>
          <a:bodyPr vert="eaVert" anchor="b" anchorCtr="0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97429"/>
            <a:ext cx="6247546" cy="4729627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B9AA-E97F-469F-B5EA-A70FFAA4D751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8" name="Rectangle 17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C9EE8-E0E0-4F84-B0D7-5C3E81144D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2799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Oval 4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9" name="Oval 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Oval 3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Oval 4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it-I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407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D70B9AA-E97F-469F-B5EA-A70FFAA4D751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20" name="Rectangle 19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65C9EE8-E0E0-4F84-B0D7-5C3E81144D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4358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0856DA0D-1CEC-400E-A22C-30F3C18511D7}"/>
              </a:ext>
            </a:extLst>
          </p:cNvPr>
          <p:cNvSpPr txBox="1"/>
          <p:nvPr/>
        </p:nvSpPr>
        <p:spPr>
          <a:xfrm>
            <a:off x="3047114" y="4573404"/>
            <a:ext cx="60977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000" b="1" dirty="0"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ALICE BORRATA 046002070</a:t>
            </a:r>
            <a:endParaRPr lang="it-IT" sz="4000" b="1" cap="none" spc="0" dirty="0">
              <a:ln w="12700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7" name="Immagine 6" descr="Immagine che contiene testo, esterni, segnale&#10;&#10;Descrizione generata automaticamente">
            <a:extLst>
              <a:ext uri="{FF2B5EF4-FFF2-40B4-BE49-F238E27FC236}">
                <a16:creationId xmlns:a16="http://schemas.microsoft.com/office/drawing/2014/main" id="{D9F78293-265F-4809-B337-2D264624D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114" y="1414131"/>
            <a:ext cx="5697445" cy="257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310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6F51EA11-FCFA-4C0B-8A91-89C50CA6153C}"/>
              </a:ext>
            </a:extLst>
          </p:cNvPr>
          <p:cNvSpPr/>
          <p:nvPr/>
        </p:nvSpPr>
        <p:spPr>
          <a:xfrm>
            <a:off x="4963220" y="529590"/>
            <a:ext cx="22655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3200" b="1" dirty="0"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Intestazione</a:t>
            </a:r>
            <a:endParaRPr lang="it-IT" sz="3200" b="1" cap="none" spc="0" dirty="0">
              <a:ln w="12700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4" name="Immagine 3" descr="Immagine che contiene testo, barca&#10;&#10;Descrizione generata automaticamente">
            <a:extLst>
              <a:ext uri="{FF2B5EF4-FFF2-40B4-BE49-F238E27FC236}">
                <a16:creationId xmlns:a16="http://schemas.microsoft.com/office/drawing/2014/main" id="{40A62ADD-E1B0-430E-835B-3E7CAAA96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49" y="2142928"/>
            <a:ext cx="12026900" cy="3136900"/>
          </a:xfrm>
          <a:prstGeom prst="rect">
            <a:avLst/>
          </a:prstGeom>
        </p:spPr>
      </p:pic>
      <p:sp>
        <p:nvSpPr>
          <p:cNvPr id="6" name="Parentesi quadra aperta 5">
            <a:extLst>
              <a:ext uri="{FF2B5EF4-FFF2-40B4-BE49-F238E27FC236}">
                <a16:creationId xmlns:a16="http://schemas.microsoft.com/office/drawing/2014/main" id="{3195E32F-6455-42A2-A150-11B7ED32560D}"/>
              </a:ext>
            </a:extLst>
          </p:cNvPr>
          <p:cNvSpPr/>
          <p:nvPr/>
        </p:nvSpPr>
        <p:spPr>
          <a:xfrm>
            <a:off x="742950" y="2142928"/>
            <a:ext cx="1352550" cy="3273425"/>
          </a:xfrm>
          <a:prstGeom prst="leftBracket">
            <a:avLst/>
          </a:prstGeom>
          <a:ln w="76200">
            <a:solidFill>
              <a:schemeClr val="tx2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5A44F24-DD32-4D48-BEF1-4DF9ACB376F7}"/>
              </a:ext>
            </a:extLst>
          </p:cNvPr>
          <p:cNvSpPr txBox="1"/>
          <p:nvPr/>
        </p:nvSpPr>
        <p:spPr>
          <a:xfrm>
            <a:off x="742950" y="1434347"/>
            <a:ext cx="3447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>
                <a:solidFill>
                  <a:schemeClr val="tx2"/>
                </a:solidFill>
              </a:rPr>
              <a:t>320 </a:t>
            </a:r>
            <a:r>
              <a:rPr lang="it-IT" sz="3600" b="1" dirty="0" err="1">
                <a:solidFill>
                  <a:schemeClr val="tx2"/>
                </a:solidFill>
              </a:rPr>
              <a:t>px</a:t>
            </a:r>
            <a:endParaRPr lang="it-IT" sz="3600" b="1" dirty="0">
              <a:solidFill>
                <a:schemeClr val="tx2"/>
              </a:solidFill>
            </a:endParaRP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214E948A-6B34-47C7-95B0-94488EE751E7}"/>
              </a:ext>
            </a:extLst>
          </p:cNvPr>
          <p:cNvCxnSpPr>
            <a:cxnSpLocks/>
          </p:cNvCxnSpPr>
          <p:nvPr/>
        </p:nvCxnSpPr>
        <p:spPr>
          <a:xfrm flipH="1" flipV="1">
            <a:off x="11437198" y="4796642"/>
            <a:ext cx="536576" cy="392906"/>
          </a:xfrm>
          <a:prstGeom prst="line">
            <a:avLst/>
          </a:prstGeom>
          <a:ln w="7620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29D6ED1-679E-409B-B4BA-A713E6F35E80}"/>
              </a:ext>
            </a:extLst>
          </p:cNvPr>
          <p:cNvSpPr txBox="1"/>
          <p:nvPr/>
        </p:nvSpPr>
        <p:spPr>
          <a:xfrm>
            <a:off x="9058274" y="5279828"/>
            <a:ext cx="3209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FFFF00"/>
                </a:solidFill>
                <a:highlight>
                  <a:srgbClr val="C0C0C0"/>
                </a:highlight>
              </a:rPr>
              <a:t>Border-radius:10 </a:t>
            </a:r>
            <a:r>
              <a:rPr lang="it-IT" sz="2400" b="1" dirty="0" err="1">
                <a:solidFill>
                  <a:srgbClr val="FFFF00"/>
                </a:solidFill>
                <a:highlight>
                  <a:srgbClr val="C0C0C0"/>
                </a:highlight>
              </a:rPr>
              <a:t>px</a:t>
            </a:r>
            <a:endParaRPr lang="it-IT" sz="2400" b="1" dirty="0">
              <a:solidFill>
                <a:srgbClr val="FFFF00"/>
              </a:solidFill>
              <a:highlight>
                <a:srgbClr val="C0C0C0"/>
              </a:highlight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9EEA692-9035-4545-8421-C9533863CC50}"/>
              </a:ext>
            </a:extLst>
          </p:cNvPr>
          <p:cNvSpPr txBox="1"/>
          <p:nvPr/>
        </p:nvSpPr>
        <p:spPr>
          <a:xfrm>
            <a:off x="127222" y="5939059"/>
            <a:ext cx="119822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Title ha position </a:t>
            </a:r>
            <a:r>
              <a:rPr lang="it-IT" sz="2000" dirty="0" err="1"/>
              <a:t>absolute</a:t>
            </a:r>
            <a:r>
              <a:rPr lang="it-IT" sz="2000" dirty="0"/>
              <a:t> e si riferisce ad </a:t>
            </a:r>
            <a:r>
              <a:rPr lang="it-IT" sz="2000" dirty="0" err="1"/>
              <a:t>header</a:t>
            </a:r>
            <a:r>
              <a:rPr lang="it-IT" sz="2000" dirty="0"/>
              <a:t>, essendo lui il primo contenitore ad avere position relative.</a:t>
            </a: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C4628E6D-61D7-4BAA-8A92-65A4B047BD3A}"/>
              </a:ext>
            </a:extLst>
          </p:cNvPr>
          <p:cNvCxnSpPr/>
          <p:nvPr/>
        </p:nvCxnSpPr>
        <p:spPr>
          <a:xfrm>
            <a:off x="10909005" y="4210493"/>
            <a:ext cx="1200444" cy="0"/>
          </a:xfrm>
          <a:prstGeom prst="straightConnector1">
            <a:avLst/>
          </a:prstGeom>
          <a:ln w="76200"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FFB7F9D-1E89-4158-9871-78BEEA250F70}"/>
              </a:ext>
            </a:extLst>
          </p:cNvPr>
          <p:cNvSpPr txBox="1"/>
          <p:nvPr/>
        </p:nvSpPr>
        <p:spPr>
          <a:xfrm>
            <a:off x="10141245" y="3655469"/>
            <a:ext cx="2615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75000"/>
                  </a:schemeClr>
                </a:solidFill>
                <a:highlight>
                  <a:srgbClr val="C0C0C0"/>
                </a:highlight>
              </a:rPr>
              <a:t>10% di </a:t>
            </a:r>
            <a:r>
              <a:rPr lang="it-IT" sz="2000" b="1" dirty="0" err="1">
                <a:solidFill>
                  <a:schemeClr val="accent4">
                    <a:lumMod val="75000"/>
                  </a:schemeClr>
                </a:solidFill>
                <a:highlight>
                  <a:srgbClr val="C0C0C0"/>
                </a:highlight>
              </a:rPr>
              <a:t>header</a:t>
            </a:r>
            <a:endParaRPr lang="it-IT" sz="2000" b="1" dirty="0">
              <a:solidFill>
                <a:schemeClr val="accent4">
                  <a:lumMod val="75000"/>
                </a:schemeClr>
              </a:solidFill>
              <a:highlight>
                <a:srgbClr val="C0C0C0"/>
              </a:highlight>
            </a:endParaRP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CE126C74-5F2D-46B8-BC0E-9F7BE83A6123}"/>
              </a:ext>
            </a:extLst>
          </p:cNvPr>
          <p:cNvCxnSpPr>
            <a:cxnSpLocks/>
          </p:cNvCxnSpPr>
          <p:nvPr/>
        </p:nvCxnSpPr>
        <p:spPr>
          <a:xfrm>
            <a:off x="8102009" y="2232837"/>
            <a:ext cx="0" cy="1977656"/>
          </a:xfrm>
          <a:prstGeom prst="straightConnector1">
            <a:avLst/>
          </a:prstGeom>
          <a:ln w="76200">
            <a:solidFill>
              <a:schemeClr val="tx2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F3CCEA45-EDDF-4DEB-A044-2A5FF54574DB}"/>
              </a:ext>
            </a:extLst>
          </p:cNvPr>
          <p:cNvSpPr txBox="1"/>
          <p:nvPr/>
        </p:nvSpPr>
        <p:spPr>
          <a:xfrm>
            <a:off x="8102009" y="2142928"/>
            <a:ext cx="1552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150px</a:t>
            </a:r>
          </a:p>
        </p:txBody>
      </p:sp>
      <p:sp>
        <p:nvSpPr>
          <p:cNvPr id="20" name="Parentesi quadra aperta 19">
            <a:extLst>
              <a:ext uri="{FF2B5EF4-FFF2-40B4-BE49-F238E27FC236}">
                <a16:creationId xmlns:a16="http://schemas.microsoft.com/office/drawing/2014/main" id="{60913034-0060-430E-8EDB-DBA749561D1D}"/>
              </a:ext>
            </a:extLst>
          </p:cNvPr>
          <p:cNvSpPr/>
          <p:nvPr/>
        </p:nvSpPr>
        <p:spPr>
          <a:xfrm>
            <a:off x="5592726" y="4051036"/>
            <a:ext cx="503274" cy="745599"/>
          </a:xfrm>
          <a:prstGeom prst="leftBracket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A7C46654-4919-4F07-8CE7-E3EA36FDFFB1}"/>
              </a:ext>
            </a:extLst>
          </p:cNvPr>
          <p:cNvSpPr txBox="1"/>
          <p:nvPr/>
        </p:nvSpPr>
        <p:spPr>
          <a:xfrm>
            <a:off x="4550735" y="4334970"/>
            <a:ext cx="1839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5.2em</a:t>
            </a:r>
          </a:p>
        </p:txBody>
      </p:sp>
    </p:spTree>
    <p:extLst>
      <p:ext uri="{BB962C8B-B14F-4D97-AF65-F5344CB8AC3E}">
        <p14:creationId xmlns:p14="http://schemas.microsoft.com/office/powerpoint/2010/main" val="2834917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5CDDB07F-39E7-49A8-AD2D-09A57083A060}"/>
              </a:ext>
            </a:extLst>
          </p:cNvPr>
          <p:cNvSpPr txBox="1"/>
          <p:nvPr/>
        </p:nvSpPr>
        <p:spPr>
          <a:xfrm>
            <a:off x="1551832" y="5581844"/>
            <a:ext cx="90799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La position è </a:t>
            </a:r>
            <a:r>
              <a:rPr lang="it-IT" sz="2000" dirty="0" err="1"/>
              <a:t>absolute</a:t>
            </a:r>
            <a:r>
              <a:rPr lang="it-IT" sz="2000" dirty="0"/>
              <a:t> e fa, anche questa volta, riferimento ad </a:t>
            </a:r>
            <a:r>
              <a:rPr lang="it-IT" sz="2000" dirty="0" err="1"/>
              <a:t>header</a:t>
            </a:r>
            <a:r>
              <a:rPr lang="it-IT" sz="2000" dirty="0"/>
              <a:t>.</a:t>
            </a:r>
          </a:p>
          <a:p>
            <a:pPr algn="ctr"/>
            <a:r>
              <a:rPr lang="it-IT" sz="2000" dirty="0"/>
              <a:t>È totalmente sovrapposto all’</a:t>
            </a:r>
            <a:r>
              <a:rPr lang="it-IT" sz="2000" dirty="0" err="1"/>
              <a:t>header</a:t>
            </a:r>
            <a:r>
              <a:rPr lang="it-IT" sz="2000" dirty="0"/>
              <a:t>.</a:t>
            </a:r>
          </a:p>
        </p:txBody>
      </p:sp>
      <p:pic>
        <p:nvPicPr>
          <p:cNvPr id="4" name="Immagine 3" descr="Immagine che contiene testo, barca&#10;&#10;Descrizione generata automaticamente">
            <a:extLst>
              <a:ext uri="{FF2B5EF4-FFF2-40B4-BE49-F238E27FC236}">
                <a16:creationId xmlns:a16="http://schemas.microsoft.com/office/drawing/2014/main" id="{45FA970D-8137-45CA-A047-DB73F4A66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" y="1860550"/>
            <a:ext cx="12026900" cy="3136900"/>
          </a:xfrm>
          <a:prstGeom prst="rect">
            <a:avLst/>
          </a:prstGeom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F073A944-4750-4487-9851-5168110AE605}"/>
              </a:ext>
            </a:extLst>
          </p:cNvPr>
          <p:cNvSpPr/>
          <p:nvPr/>
        </p:nvSpPr>
        <p:spPr>
          <a:xfrm>
            <a:off x="5046295" y="423356"/>
            <a:ext cx="209940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3200" b="1" cap="none" spc="0" dirty="0"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Overlay</a:t>
            </a:r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4736A9E-FEFD-418C-BD22-CB93A5E424F4}"/>
              </a:ext>
            </a:extLst>
          </p:cNvPr>
          <p:cNvCxnSpPr>
            <a:cxnSpLocks/>
          </p:cNvCxnSpPr>
          <p:nvPr/>
        </p:nvCxnSpPr>
        <p:spPr>
          <a:xfrm flipH="1" flipV="1">
            <a:off x="11418910" y="4504034"/>
            <a:ext cx="536576" cy="392906"/>
          </a:xfrm>
          <a:prstGeom prst="line">
            <a:avLst/>
          </a:prstGeom>
          <a:ln w="7620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3FB994D-F54D-4A3D-AB6B-FAF54F8D6F0B}"/>
              </a:ext>
            </a:extLst>
          </p:cNvPr>
          <p:cNvSpPr txBox="1"/>
          <p:nvPr/>
        </p:nvSpPr>
        <p:spPr>
          <a:xfrm>
            <a:off x="9031031" y="5020805"/>
            <a:ext cx="3209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FFFF00"/>
                </a:solidFill>
                <a:highlight>
                  <a:srgbClr val="C0C0C0"/>
                </a:highlight>
              </a:rPr>
              <a:t>Border-radius:10 </a:t>
            </a:r>
            <a:r>
              <a:rPr lang="it-IT" sz="2400" b="1" dirty="0" err="1">
                <a:solidFill>
                  <a:srgbClr val="FFFF00"/>
                </a:solidFill>
                <a:highlight>
                  <a:srgbClr val="C0C0C0"/>
                </a:highlight>
              </a:rPr>
              <a:t>px</a:t>
            </a:r>
            <a:endParaRPr lang="it-IT" sz="2400" b="1" dirty="0">
              <a:solidFill>
                <a:srgbClr val="FFFF00"/>
              </a:solidFill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85480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67FDA132-8EF9-420A-AC73-E3F009B36E08}"/>
              </a:ext>
            </a:extLst>
          </p:cNvPr>
          <p:cNvSpPr txBox="1"/>
          <p:nvPr/>
        </p:nvSpPr>
        <p:spPr>
          <a:xfrm>
            <a:off x="3047114" y="613128"/>
            <a:ext cx="6097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b="1" dirty="0"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Menù</a:t>
            </a:r>
            <a:r>
              <a:rPr lang="it-IT" sz="3200" b="1" cap="none" spc="0" dirty="0"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di na</a:t>
            </a:r>
            <a:r>
              <a:rPr lang="it-IT" sz="3200" b="1" dirty="0"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vigazione</a:t>
            </a:r>
            <a:endParaRPr lang="it-IT" sz="3200" b="1" cap="none" spc="0" dirty="0">
              <a:ln w="12700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D51B978-F17F-439E-8534-9ACDDF213B2F}"/>
              </a:ext>
            </a:extLst>
          </p:cNvPr>
          <p:cNvSpPr txBox="1"/>
          <p:nvPr/>
        </p:nvSpPr>
        <p:spPr>
          <a:xfrm>
            <a:off x="2113221" y="5392231"/>
            <a:ext cx="79655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/>
              <a:t>È un </a:t>
            </a:r>
            <a:r>
              <a:rPr lang="it-IT" sz="2000" dirty="0" err="1"/>
              <a:t>flex</a:t>
            </a:r>
            <a:r>
              <a:rPr lang="it-IT" sz="2000" dirty="0"/>
              <a:t> container disposto in verticale. </a:t>
            </a:r>
          </a:p>
          <a:p>
            <a:pPr algn="ctr"/>
            <a:r>
              <a:rPr lang="it-IT" sz="2000" dirty="0"/>
              <a:t>Le varie voci sono in grassetto.</a:t>
            </a:r>
          </a:p>
          <a:p>
            <a:r>
              <a:rPr lang="it-IT" sz="2000" dirty="0"/>
              <a:t>Il bordo in caso di </a:t>
            </a:r>
            <a:r>
              <a:rPr lang="it-IT" sz="2000" dirty="0" err="1"/>
              <a:t>hover</a:t>
            </a:r>
            <a:r>
              <a:rPr lang="it-IT" sz="2000" dirty="0"/>
              <a:t> è continuo, di 2 </a:t>
            </a:r>
            <a:r>
              <a:rPr lang="it-IT" sz="2000" dirty="0" err="1"/>
              <a:t>px</a:t>
            </a:r>
            <a:r>
              <a:rPr lang="it-IT" sz="2000" dirty="0"/>
              <a:t> e con raggio 10px.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4F105F68-2792-4689-B218-9D13922270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054" b="43729"/>
          <a:stretch/>
        </p:blipFill>
        <p:spPr>
          <a:xfrm>
            <a:off x="1218380" y="2053701"/>
            <a:ext cx="4112896" cy="2750598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3032DB21-BF61-4624-B721-A8B66AE7E7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465" y="2053701"/>
            <a:ext cx="4411959" cy="2750598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0D3EE24-5E28-4952-A50E-C36B6259F24B}"/>
              </a:ext>
            </a:extLst>
          </p:cNvPr>
          <p:cNvSpPr txBox="1"/>
          <p:nvPr/>
        </p:nvSpPr>
        <p:spPr>
          <a:xfrm>
            <a:off x="7473802" y="3165356"/>
            <a:ext cx="2509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6">
                    <a:lumMod val="75000"/>
                  </a:schemeClr>
                </a:solidFill>
              </a:rPr>
              <a:t>20% di </a:t>
            </a:r>
            <a:r>
              <a:rPr lang="it-IT" sz="2400" b="1" dirty="0" err="1">
                <a:solidFill>
                  <a:schemeClr val="accent6">
                    <a:lumMod val="75000"/>
                  </a:schemeClr>
                </a:solidFill>
              </a:rPr>
              <a:t>header</a:t>
            </a:r>
            <a:endParaRPr lang="it-IT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Parentesi quadra aperta 10">
            <a:extLst>
              <a:ext uri="{FF2B5EF4-FFF2-40B4-BE49-F238E27FC236}">
                <a16:creationId xmlns:a16="http://schemas.microsoft.com/office/drawing/2014/main" id="{EF34E3A1-7CDA-4F08-B022-352E9F59BE7E}"/>
              </a:ext>
            </a:extLst>
          </p:cNvPr>
          <p:cNvSpPr/>
          <p:nvPr/>
        </p:nvSpPr>
        <p:spPr>
          <a:xfrm rot="16200000">
            <a:off x="8228714" y="560379"/>
            <a:ext cx="999460" cy="4210494"/>
          </a:xfrm>
          <a:prstGeom prst="leftBracket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6DA76982-C169-48B9-8F47-D0222F826890}"/>
              </a:ext>
            </a:extLst>
          </p:cNvPr>
          <p:cNvSpPr/>
          <p:nvPr/>
        </p:nvSpPr>
        <p:spPr>
          <a:xfrm>
            <a:off x="1358308" y="2165896"/>
            <a:ext cx="87719" cy="215840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4815F11-0FB1-487C-9AD3-FAF84DD2BC3A}"/>
              </a:ext>
            </a:extLst>
          </p:cNvPr>
          <p:cNvSpPr txBox="1"/>
          <p:nvPr/>
        </p:nvSpPr>
        <p:spPr>
          <a:xfrm>
            <a:off x="1041991" y="1730023"/>
            <a:ext cx="2371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5px</a:t>
            </a:r>
          </a:p>
        </p:txBody>
      </p:sp>
      <p:sp>
        <p:nvSpPr>
          <p:cNvPr id="14" name="Parentesi quadra aperta 13">
            <a:extLst>
              <a:ext uri="{FF2B5EF4-FFF2-40B4-BE49-F238E27FC236}">
                <a16:creationId xmlns:a16="http://schemas.microsoft.com/office/drawing/2014/main" id="{345E4F6E-5543-49C8-8417-7BDB7BF820F7}"/>
              </a:ext>
            </a:extLst>
          </p:cNvPr>
          <p:cNvSpPr/>
          <p:nvPr/>
        </p:nvSpPr>
        <p:spPr>
          <a:xfrm rot="10800000">
            <a:off x="2579514" y="2191688"/>
            <a:ext cx="57702" cy="384389"/>
          </a:xfrm>
          <a:prstGeom prst="leftBracket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AC434CB-8EFE-4E7A-9751-B04E67BC0C05}"/>
              </a:ext>
            </a:extLst>
          </p:cNvPr>
          <p:cNvSpPr txBox="1"/>
          <p:nvPr/>
        </p:nvSpPr>
        <p:spPr>
          <a:xfrm>
            <a:off x="2641239" y="2212661"/>
            <a:ext cx="26900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1.5em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D414DF9D-C833-4F64-AE8E-175A0AE10944}"/>
              </a:ext>
            </a:extLst>
          </p:cNvPr>
          <p:cNvSpPr/>
          <p:nvPr/>
        </p:nvSpPr>
        <p:spPr>
          <a:xfrm>
            <a:off x="6623197" y="4038052"/>
            <a:ext cx="2679405" cy="17760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8DF030B-1825-442F-A0AD-9052F6029EE4}"/>
              </a:ext>
            </a:extLst>
          </p:cNvPr>
          <p:cNvSpPr txBox="1"/>
          <p:nvPr/>
        </p:nvSpPr>
        <p:spPr>
          <a:xfrm>
            <a:off x="9403334" y="3964761"/>
            <a:ext cx="1739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4px</a:t>
            </a:r>
          </a:p>
        </p:txBody>
      </p:sp>
    </p:spTree>
    <p:extLst>
      <p:ext uri="{BB962C8B-B14F-4D97-AF65-F5344CB8AC3E}">
        <p14:creationId xmlns:p14="http://schemas.microsoft.com/office/powerpoint/2010/main" val="1189963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1A1205CE-638B-474D-A108-B06F54362026}"/>
              </a:ext>
            </a:extLst>
          </p:cNvPr>
          <p:cNvSpPr txBox="1"/>
          <p:nvPr/>
        </p:nvSpPr>
        <p:spPr>
          <a:xfrm>
            <a:off x="3047114" y="319284"/>
            <a:ext cx="6097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b="1" cap="none" spc="0" dirty="0"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Contenuti (parte 1)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FF26D1E-C9E4-4F33-985B-5E2664B20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" y="1737020"/>
            <a:ext cx="12026900" cy="259715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F5D542E-99CB-48CC-BA70-201E4C0777BE}"/>
              </a:ext>
            </a:extLst>
          </p:cNvPr>
          <p:cNvSpPr txBox="1"/>
          <p:nvPr/>
        </p:nvSpPr>
        <p:spPr>
          <a:xfrm>
            <a:off x="41275" y="4887050"/>
            <a:ext cx="121094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Un </a:t>
            </a:r>
            <a:r>
              <a:rPr lang="it-IT" dirty="0" err="1"/>
              <a:t>flex</a:t>
            </a:r>
            <a:r>
              <a:rPr lang="it-IT" dirty="0"/>
              <a:t> container più grande (disposto di default in orizzontale) che contiene 3 </a:t>
            </a:r>
            <a:r>
              <a:rPr lang="it-IT" dirty="0" err="1"/>
              <a:t>flex</a:t>
            </a:r>
            <a:r>
              <a:rPr lang="it-IT" dirty="0"/>
              <a:t> container più piccoli (disposti in verticale) posizionati tramite </a:t>
            </a:r>
            <a:r>
              <a:rPr lang="it-IT" dirty="0" err="1"/>
              <a:t>space-around</a:t>
            </a:r>
            <a:r>
              <a:rPr lang="it-IT" dirty="0"/>
              <a:t>. Ogni </a:t>
            </a:r>
            <a:r>
              <a:rPr lang="it-IT" dirty="0" err="1"/>
              <a:t>flex</a:t>
            </a:r>
            <a:r>
              <a:rPr lang="it-IT" dirty="0"/>
              <a:t> container interno contiene un &lt;div&gt;, che lascia spazio a chi scriverà il CSS di scegliere una foto da inserire, ed un &lt;h4&gt; contenuto in un &lt;a&gt;; posizionati tramite </a:t>
            </a:r>
            <a:r>
              <a:rPr lang="it-IT" dirty="0" err="1"/>
              <a:t>space-around</a:t>
            </a:r>
            <a:r>
              <a:rPr lang="it-IT" dirty="0"/>
              <a:t>.</a:t>
            </a:r>
          </a:p>
          <a:p>
            <a:pPr algn="ctr"/>
            <a:r>
              <a:rPr lang="it-IT" dirty="0"/>
              <a:t>Non è previsto nessun bordo in caso di </a:t>
            </a:r>
            <a:r>
              <a:rPr lang="it-IT" dirty="0" err="1"/>
              <a:t>hover</a:t>
            </a:r>
            <a:r>
              <a:rPr lang="it-IT" dirty="0"/>
              <a:t> (è stato rimosso il bordo bianco). 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C2340F03-8467-4E8D-975F-3E9724ACB199}"/>
              </a:ext>
            </a:extLst>
          </p:cNvPr>
          <p:cNvSpPr/>
          <p:nvPr/>
        </p:nvSpPr>
        <p:spPr>
          <a:xfrm>
            <a:off x="0" y="2371060"/>
            <a:ext cx="499730" cy="196311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D6BAE42-0B91-4387-AE50-A7D916797680}"/>
              </a:ext>
            </a:extLst>
          </p:cNvPr>
          <p:cNvSpPr txBox="1"/>
          <p:nvPr/>
        </p:nvSpPr>
        <p:spPr>
          <a:xfrm>
            <a:off x="0" y="4330243"/>
            <a:ext cx="24242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tx2">
                    <a:lumMod val="50000"/>
                  </a:schemeClr>
                </a:solidFill>
              </a:rPr>
              <a:t>3% della pagina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947FD180-C549-4E36-A335-F5E49A917AB6}"/>
              </a:ext>
            </a:extLst>
          </p:cNvPr>
          <p:cNvSpPr/>
          <p:nvPr/>
        </p:nvSpPr>
        <p:spPr>
          <a:xfrm>
            <a:off x="41275" y="1538098"/>
            <a:ext cx="11686437" cy="83296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E000D03-3904-46D7-9EEF-B33B9E296B6A}"/>
              </a:ext>
            </a:extLst>
          </p:cNvPr>
          <p:cNvSpPr txBox="1"/>
          <p:nvPr/>
        </p:nvSpPr>
        <p:spPr>
          <a:xfrm>
            <a:off x="1089837" y="1025503"/>
            <a:ext cx="26687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1">
                    <a:lumMod val="75000"/>
                  </a:schemeClr>
                </a:solidFill>
              </a:rPr>
              <a:t>6% della pagina</a:t>
            </a:r>
          </a:p>
        </p:txBody>
      </p:sp>
      <p:sp>
        <p:nvSpPr>
          <p:cNvPr id="10" name="Parentesi quadra aperta 9">
            <a:extLst>
              <a:ext uri="{FF2B5EF4-FFF2-40B4-BE49-F238E27FC236}">
                <a16:creationId xmlns:a16="http://schemas.microsoft.com/office/drawing/2014/main" id="{A5E55D45-0797-4C79-A009-0B2ABBD4A532}"/>
              </a:ext>
            </a:extLst>
          </p:cNvPr>
          <p:cNvSpPr/>
          <p:nvPr/>
        </p:nvSpPr>
        <p:spPr>
          <a:xfrm rot="16200000">
            <a:off x="9900148" y="2659374"/>
            <a:ext cx="156698" cy="3498433"/>
          </a:xfrm>
          <a:prstGeom prst="leftBracket">
            <a:avLst/>
          </a:prstGeom>
          <a:ln w="571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6022168-1D5A-465A-8263-24C4AB8DB70B}"/>
              </a:ext>
            </a:extLst>
          </p:cNvPr>
          <p:cNvSpPr txBox="1"/>
          <p:nvPr/>
        </p:nvSpPr>
        <p:spPr>
          <a:xfrm>
            <a:off x="9282223" y="4486940"/>
            <a:ext cx="2721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50000"/>
                  </a:schemeClr>
                </a:solidFill>
              </a:rPr>
              <a:t>90% di </a:t>
            </a:r>
            <a:r>
              <a:rPr lang="it-IT" sz="2000" b="1" dirty="0" err="1">
                <a:solidFill>
                  <a:schemeClr val="accent4">
                    <a:lumMod val="50000"/>
                  </a:schemeClr>
                </a:solidFill>
              </a:rPr>
              <a:t>choose</a:t>
            </a:r>
            <a:endParaRPr lang="it-IT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248D4DB-0DF4-4F5D-9F5F-CF4E90B91135}"/>
              </a:ext>
            </a:extLst>
          </p:cNvPr>
          <p:cNvSpPr txBox="1"/>
          <p:nvPr/>
        </p:nvSpPr>
        <p:spPr>
          <a:xfrm>
            <a:off x="6889898" y="1965640"/>
            <a:ext cx="1956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rgbClr val="5FEEFD"/>
                </a:solidFill>
              </a:rPr>
              <a:t>200px</a:t>
            </a: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0348315D-2FD3-475D-96F4-30FA63DC68D5}"/>
              </a:ext>
            </a:extLst>
          </p:cNvPr>
          <p:cNvCxnSpPr/>
          <p:nvPr/>
        </p:nvCxnSpPr>
        <p:spPr>
          <a:xfrm>
            <a:off x="7091916" y="2365750"/>
            <a:ext cx="0" cy="1632092"/>
          </a:xfrm>
          <a:prstGeom prst="straightConnector1">
            <a:avLst/>
          </a:prstGeom>
          <a:ln w="76200">
            <a:solidFill>
              <a:srgbClr val="5FEEFD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5AF55AB6-FBFA-4508-92A3-4A9E61BC7E32}"/>
              </a:ext>
            </a:extLst>
          </p:cNvPr>
          <p:cNvCxnSpPr>
            <a:cxnSpLocks/>
          </p:cNvCxnSpPr>
          <p:nvPr/>
        </p:nvCxnSpPr>
        <p:spPr>
          <a:xfrm flipH="1" flipV="1">
            <a:off x="3758609" y="3817088"/>
            <a:ext cx="204493" cy="113044"/>
          </a:xfrm>
          <a:prstGeom prst="line">
            <a:avLst/>
          </a:prstGeom>
          <a:ln w="762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2B6EAA51-C35A-4A07-98A9-894372F4DCE3}"/>
              </a:ext>
            </a:extLst>
          </p:cNvPr>
          <p:cNvSpPr txBox="1"/>
          <p:nvPr/>
        </p:nvSpPr>
        <p:spPr>
          <a:xfrm>
            <a:off x="1696287" y="3990858"/>
            <a:ext cx="32099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Border-radius:10 </a:t>
            </a:r>
            <a:r>
              <a:rPr lang="it-IT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px</a:t>
            </a:r>
            <a:endParaRPr lang="it-IT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305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31CB18F9-F96C-4CD5-8488-47AF6CD5B01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027"/>
          <a:stretch/>
        </p:blipFill>
        <p:spPr>
          <a:xfrm>
            <a:off x="0" y="2615609"/>
            <a:ext cx="12026900" cy="623408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FE29C42-D719-48A5-BF55-2B7E63568794}"/>
              </a:ext>
            </a:extLst>
          </p:cNvPr>
          <p:cNvSpPr txBox="1"/>
          <p:nvPr/>
        </p:nvSpPr>
        <p:spPr>
          <a:xfrm>
            <a:off x="0" y="5029199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Sono stati usati &lt;h4&gt; dentro &lt;a&gt; per avere stessa configurazione dei prossimi sottotitoli (anche loro &lt;h4&gt;) con l’aggiunta delle caratteristiche degli elementi &lt;a&gt;</a:t>
            </a:r>
          </a:p>
        </p:txBody>
      </p:sp>
      <p:sp>
        <p:nvSpPr>
          <p:cNvPr id="5" name="Parentesi quadra aperta 4">
            <a:extLst>
              <a:ext uri="{FF2B5EF4-FFF2-40B4-BE49-F238E27FC236}">
                <a16:creationId xmlns:a16="http://schemas.microsoft.com/office/drawing/2014/main" id="{DD36D03C-BCD9-4776-BB81-6A5FAA9280AD}"/>
              </a:ext>
            </a:extLst>
          </p:cNvPr>
          <p:cNvSpPr/>
          <p:nvPr/>
        </p:nvSpPr>
        <p:spPr>
          <a:xfrm rot="10800000">
            <a:off x="4997302" y="2615609"/>
            <a:ext cx="45719" cy="489098"/>
          </a:xfrm>
          <a:prstGeom prst="leftBracket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D1F8FD6-D2E8-436B-9893-3CC92FC260B0}"/>
              </a:ext>
            </a:extLst>
          </p:cNvPr>
          <p:cNvSpPr txBox="1"/>
          <p:nvPr/>
        </p:nvSpPr>
        <p:spPr>
          <a:xfrm>
            <a:off x="4997302" y="2660103"/>
            <a:ext cx="3753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1.5em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8275FE0A-B24B-43C8-AA2F-1157241DFF13}"/>
              </a:ext>
            </a:extLst>
          </p:cNvPr>
          <p:cNvSpPr/>
          <p:nvPr/>
        </p:nvSpPr>
        <p:spPr>
          <a:xfrm>
            <a:off x="450822" y="2613355"/>
            <a:ext cx="3356699" cy="159489"/>
          </a:xfrm>
          <a:prstGeom prst="rect">
            <a:avLst/>
          </a:prstGeom>
          <a:solidFill>
            <a:srgbClr val="5FEEF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4CBFC09-5BCE-42BC-B75C-2B1A0572ACE7}"/>
              </a:ext>
            </a:extLst>
          </p:cNvPr>
          <p:cNvSpPr txBox="1"/>
          <p:nvPr/>
        </p:nvSpPr>
        <p:spPr>
          <a:xfrm>
            <a:off x="450822" y="2151690"/>
            <a:ext cx="2047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5FEEFD"/>
                </a:solidFill>
              </a:rPr>
              <a:t>0.5px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C8BBF8E-F1FE-401E-B874-0C848475EBEA}"/>
              </a:ext>
            </a:extLst>
          </p:cNvPr>
          <p:cNvSpPr/>
          <p:nvPr/>
        </p:nvSpPr>
        <p:spPr>
          <a:xfrm>
            <a:off x="450822" y="3161526"/>
            <a:ext cx="3356699" cy="159489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2E5F7B2-62E9-47D6-AF13-D2D216470FDD}"/>
              </a:ext>
            </a:extLst>
          </p:cNvPr>
          <p:cNvSpPr txBox="1"/>
          <p:nvPr/>
        </p:nvSpPr>
        <p:spPr>
          <a:xfrm>
            <a:off x="450822" y="3306153"/>
            <a:ext cx="2360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3">
                    <a:lumMod val="50000"/>
                  </a:schemeClr>
                </a:solidFill>
              </a:rPr>
              <a:t>0.5px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601D2277-CA8D-485A-B736-BE75739F44C6}"/>
              </a:ext>
            </a:extLst>
          </p:cNvPr>
          <p:cNvSpPr/>
          <p:nvPr/>
        </p:nvSpPr>
        <p:spPr>
          <a:xfrm>
            <a:off x="7736537" y="2613355"/>
            <a:ext cx="372916" cy="623408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713F078-F7F9-4860-8725-160FC2E92023}"/>
              </a:ext>
            </a:extLst>
          </p:cNvPr>
          <p:cNvSpPr txBox="1"/>
          <p:nvPr/>
        </p:nvSpPr>
        <p:spPr>
          <a:xfrm>
            <a:off x="6402151" y="3281257"/>
            <a:ext cx="2668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2"/>
                </a:solidFill>
              </a:rPr>
              <a:t>10% di </a:t>
            </a:r>
            <a:r>
              <a:rPr lang="it-IT" sz="2000" b="1" dirty="0" err="1">
                <a:solidFill>
                  <a:schemeClr val="accent2"/>
                </a:solidFill>
              </a:rPr>
              <a:t>offers</a:t>
            </a:r>
            <a:endParaRPr lang="it-IT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531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DB23AF84-0F9F-490C-8F1D-C59413657828}"/>
              </a:ext>
            </a:extLst>
          </p:cNvPr>
          <p:cNvSpPr txBox="1"/>
          <p:nvPr/>
        </p:nvSpPr>
        <p:spPr>
          <a:xfrm>
            <a:off x="2876993" y="21476"/>
            <a:ext cx="6097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b="1" cap="none" spc="0" dirty="0"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Contenuti (parte 2)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D4754E6-EA5D-412A-AF28-CCF2F09936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32"/>
          <a:stretch/>
        </p:blipFill>
        <p:spPr>
          <a:xfrm>
            <a:off x="82550" y="1047750"/>
            <a:ext cx="12026900" cy="38862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74D0DB27-A863-4489-9C70-75BBD3EA6873}"/>
              </a:ext>
            </a:extLst>
          </p:cNvPr>
          <p:cNvSpPr txBox="1"/>
          <p:nvPr/>
        </p:nvSpPr>
        <p:spPr>
          <a:xfrm>
            <a:off x="82550" y="5486009"/>
            <a:ext cx="12109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Un </a:t>
            </a:r>
            <a:r>
              <a:rPr lang="it-IT" dirty="0" err="1"/>
              <a:t>flex</a:t>
            </a:r>
            <a:r>
              <a:rPr lang="it-IT" dirty="0"/>
              <a:t> container più grande (disposto di default in orizzontale) che contiene 2 </a:t>
            </a:r>
            <a:r>
              <a:rPr lang="it-IT" dirty="0" err="1"/>
              <a:t>flex</a:t>
            </a:r>
            <a:r>
              <a:rPr lang="it-IT" dirty="0"/>
              <a:t> container più piccoli (disposti in verticale) posizionati tramite </a:t>
            </a:r>
            <a:r>
              <a:rPr lang="it-IT" dirty="0" err="1"/>
              <a:t>space-around</a:t>
            </a:r>
            <a:r>
              <a:rPr lang="it-IT" dirty="0"/>
              <a:t>. Ogni </a:t>
            </a:r>
            <a:r>
              <a:rPr lang="it-IT" dirty="0" err="1"/>
              <a:t>flex</a:t>
            </a:r>
            <a:r>
              <a:rPr lang="it-IT" dirty="0"/>
              <a:t> container interno contiene un &lt;div&gt;, che lascia spazio a chi scriverà il CSS di scegliere una foto da inserire, ed un &lt;h4&gt;; </a:t>
            </a:r>
          </a:p>
          <a:p>
            <a:pPr algn="ctr"/>
            <a:r>
              <a:rPr lang="it-IT" dirty="0"/>
              <a:t>posizionati tramite </a:t>
            </a:r>
            <a:r>
              <a:rPr lang="it-IT" dirty="0" err="1"/>
              <a:t>space-around</a:t>
            </a:r>
            <a:r>
              <a:rPr lang="it-IT" dirty="0"/>
              <a:t>.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D52D5353-4549-4DBE-B532-17079CCADA6A}"/>
              </a:ext>
            </a:extLst>
          </p:cNvPr>
          <p:cNvSpPr/>
          <p:nvPr/>
        </p:nvSpPr>
        <p:spPr>
          <a:xfrm>
            <a:off x="0" y="630115"/>
            <a:ext cx="12192000" cy="39478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366243B2-CDB6-4460-A7F8-DF9F8129D177}"/>
              </a:ext>
            </a:extLst>
          </p:cNvPr>
          <p:cNvSpPr/>
          <p:nvPr/>
        </p:nvSpPr>
        <p:spPr>
          <a:xfrm>
            <a:off x="0" y="1047749"/>
            <a:ext cx="1307805" cy="3130846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D98C639D-4ECD-45A6-9C2D-B44B5E93D75D}"/>
              </a:ext>
            </a:extLst>
          </p:cNvPr>
          <p:cNvSpPr/>
          <p:nvPr/>
        </p:nvSpPr>
        <p:spPr>
          <a:xfrm>
            <a:off x="0" y="4178595"/>
            <a:ext cx="12192000" cy="111627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FFAE5FC-8DCA-4AB1-8412-6649887B466C}"/>
              </a:ext>
            </a:extLst>
          </p:cNvPr>
          <p:cNvSpPr txBox="1"/>
          <p:nvPr/>
        </p:nvSpPr>
        <p:spPr>
          <a:xfrm>
            <a:off x="8230486" y="255634"/>
            <a:ext cx="2626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rgbClr val="002060"/>
                </a:solidFill>
              </a:rPr>
              <a:t>6% della pagina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93C11ED-2816-4689-BAF3-AF8EB8E5776E}"/>
              </a:ext>
            </a:extLst>
          </p:cNvPr>
          <p:cNvSpPr txBox="1"/>
          <p:nvPr/>
        </p:nvSpPr>
        <p:spPr>
          <a:xfrm>
            <a:off x="0" y="1563130"/>
            <a:ext cx="2030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3">
                    <a:lumMod val="50000"/>
                  </a:schemeClr>
                </a:solidFill>
              </a:rPr>
              <a:t>10% della pagina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5498847-F58E-4ADB-9A8B-74CCD968D48F}"/>
              </a:ext>
            </a:extLst>
          </p:cNvPr>
          <p:cNvSpPr txBox="1"/>
          <p:nvPr/>
        </p:nvSpPr>
        <p:spPr>
          <a:xfrm>
            <a:off x="9835115" y="4514245"/>
            <a:ext cx="26262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>
                    <a:lumMod val="85000"/>
                  </a:schemeClr>
                </a:solidFill>
              </a:rPr>
              <a:t>10% della pagina</a:t>
            </a: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8458B7B4-1707-4FA7-9A73-04AEFE9DFCC2}"/>
              </a:ext>
            </a:extLst>
          </p:cNvPr>
          <p:cNvCxnSpPr/>
          <p:nvPr/>
        </p:nvCxnSpPr>
        <p:spPr>
          <a:xfrm>
            <a:off x="1307805" y="3530009"/>
            <a:ext cx="3561907" cy="0"/>
          </a:xfrm>
          <a:prstGeom prst="straightConnector1">
            <a:avLst/>
          </a:prstGeom>
          <a:ln w="76200"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2CE4CF0-D966-4699-8516-954DDC78D62E}"/>
              </a:ext>
            </a:extLst>
          </p:cNvPr>
          <p:cNvSpPr txBox="1"/>
          <p:nvPr/>
        </p:nvSpPr>
        <p:spPr>
          <a:xfrm>
            <a:off x="4857306" y="3176066"/>
            <a:ext cx="1807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rgbClr val="7030A0"/>
                </a:solidFill>
              </a:rPr>
              <a:t>65% di </a:t>
            </a:r>
            <a:r>
              <a:rPr lang="it-IT" sz="2000" b="1" dirty="0" err="1">
                <a:solidFill>
                  <a:srgbClr val="7030A0"/>
                </a:solidFill>
              </a:rPr>
              <a:t>headqs</a:t>
            </a:r>
            <a:endParaRPr lang="it-IT" sz="2000" b="1" dirty="0">
              <a:solidFill>
                <a:srgbClr val="7030A0"/>
              </a:solidFill>
            </a:endParaRPr>
          </a:p>
        </p:txBody>
      </p: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0DB3F4E0-AAC4-4AF1-925C-997DB62C1200}"/>
              </a:ext>
            </a:extLst>
          </p:cNvPr>
          <p:cNvCxnSpPr>
            <a:cxnSpLocks/>
          </p:cNvCxnSpPr>
          <p:nvPr/>
        </p:nvCxnSpPr>
        <p:spPr>
          <a:xfrm flipH="1" flipV="1">
            <a:off x="4381683" y="2704061"/>
            <a:ext cx="401196" cy="251267"/>
          </a:xfrm>
          <a:prstGeom prst="line">
            <a:avLst/>
          </a:prstGeom>
          <a:ln w="762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942EFA6-F462-4BA0-85A3-271CCE595C8F}"/>
              </a:ext>
            </a:extLst>
          </p:cNvPr>
          <p:cNvSpPr txBox="1"/>
          <p:nvPr/>
        </p:nvSpPr>
        <p:spPr>
          <a:xfrm>
            <a:off x="4782879" y="2475751"/>
            <a:ext cx="19932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rgbClr val="C00000"/>
                </a:solidFill>
              </a:rPr>
              <a:t>Border-radius</a:t>
            </a:r>
            <a:r>
              <a:rPr lang="it-IT" sz="2000" b="1" dirty="0">
                <a:solidFill>
                  <a:srgbClr val="C00000"/>
                </a:solidFill>
              </a:rPr>
              <a:t>:</a:t>
            </a:r>
          </a:p>
          <a:p>
            <a:r>
              <a:rPr lang="it-IT" sz="2000" b="1" dirty="0">
                <a:solidFill>
                  <a:srgbClr val="C00000"/>
                </a:solidFill>
              </a:rPr>
              <a:t>10 </a:t>
            </a:r>
            <a:r>
              <a:rPr lang="it-IT" sz="2000" b="1" dirty="0" err="1">
                <a:solidFill>
                  <a:srgbClr val="C00000"/>
                </a:solidFill>
              </a:rPr>
              <a:t>px</a:t>
            </a:r>
            <a:endParaRPr lang="it-IT" sz="2000" b="1" dirty="0">
              <a:solidFill>
                <a:srgbClr val="C00000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70E4EC47-B33E-4329-84C7-BCAC98B545E1}"/>
              </a:ext>
            </a:extLst>
          </p:cNvPr>
          <p:cNvCxnSpPr/>
          <p:nvPr/>
        </p:nvCxnSpPr>
        <p:spPr>
          <a:xfrm>
            <a:off x="10292316" y="1201479"/>
            <a:ext cx="0" cy="1892595"/>
          </a:xfrm>
          <a:prstGeom prst="straightConnector1">
            <a:avLst/>
          </a:prstGeom>
          <a:ln w="76200">
            <a:solidFill>
              <a:schemeClr val="accent5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C10E3E9C-C1BA-4343-8474-B1EB903D424B}"/>
              </a:ext>
            </a:extLst>
          </p:cNvPr>
          <p:cNvSpPr txBox="1"/>
          <p:nvPr/>
        </p:nvSpPr>
        <p:spPr>
          <a:xfrm>
            <a:off x="10361426" y="1926730"/>
            <a:ext cx="1307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5">
                    <a:lumMod val="50000"/>
                  </a:schemeClr>
                </a:solidFill>
              </a:rPr>
              <a:t>200px</a:t>
            </a:r>
          </a:p>
        </p:txBody>
      </p:sp>
    </p:spTree>
    <p:extLst>
      <p:ext uri="{BB962C8B-B14F-4D97-AF65-F5344CB8AC3E}">
        <p14:creationId xmlns:p14="http://schemas.microsoft.com/office/powerpoint/2010/main" val="1685221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2D60E64E-54B1-4FBC-8022-D6D07B4752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60" t="47170" r="15096" b="24703"/>
          <a:stretch/>
        </p:blipFill>
        <p:spPr>
          <a:xfrm>
            <a:off x="0" y="1410143"/>
            <a:ext cx="12161596" cy="3640322"/>
          </a:xfrm>
          <a:prstGeom prst="rect">
            <a:avLst/>
          </a:prstGeom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874F4BF9-BAE6-4DEF-8F0E-D99D82774E35}"/>
              </a:ext>
            </a:extLst>
          </p:cNvPr>
          <p:cNvSpPr/>
          <p:nvPr/>
        </p:nvSpPr>
        <p:spPr>
          <a:xfrm>
            <a:off x="2775098" y="4494916"/>
            <a:ext cx="6889897" cy="15151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FC6ADA05-E526-4F7A-9966-450899553809}"/>
              </a:ext>
            </a:extLst>
          </p:cNvPr>
          <p:cNvSpPr/>
          <p:nvPr/>
        </p:nvSpPr>
        <p:spPr>
          <a:xfrm>
            <a:off x="2775098" y="2723296"/>
            <a:ext cx="6889897" cy="15151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808836E5-934A-4A46-8148-0B730344C6ED}"/>
              </a:ext>
            </a:extLst>
          </p:cNvPr>
          <p:cNvSpPr/>
          <p:nvPr/>
        </p:nvSpPr>
        <p:spPr>
          <a:xfrm>
            <a:off x="2775098" y="1625487"/>
            <a:ext cx="6889897" cy="15151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8B76579-95E8-436D-AC0A-1EC9C904FB16}"/>
              </a:ext>
            </a:extLst>
          </p:cNvPr>
          <p:cNvSpPr txBox="1"/>
          <p:nvPr/>
        </p:nvSpPr>
        <p:spPr>
          <a:xfrm>
            <a:off x="8883503" y="1188779"/>
            <a:ext cx="33084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2">
                    <a:lumMod val="50000"/>
                  </a:schemeClr>
                </a:solidFill>
              </a:rPr>
              <a:t>0.5px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CD0854D-E796-4CE3-B9C1-A73F3A798633}"/>
              </a:ext>
            </a:extLst>
          </p:cNvPr>
          <p:cNvSpPr txBox="1"/>
          <p:nvPr/>
        </p:nvSpPr>
        <p:spPr>
          <a:xfrm>
            <a:off x="9664995" y="2598997"/>
            <a:ext cx="33084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50000"/>
                  </a:schemeClr>
                </a:solidFill>
              </a:rPr>
              <a:t>0.5px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30C184D-C174-418A-A8DD-1C0A14C79664}"/>
              </a:ext>
            </a:extLst>
          </p:cNvPr>
          <p:cNvSpPr txBox="1"/>
          <p:nvPr/>
        </p:nvSpPr>
        <p:spPr>
          <a:xfrm>
            <a:off x="9021726" y="4650356"/>
            <a:ext cx="33084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1">
                    <a:lumMod val="75000"/>
                  </a:schemeClr>
                </a:solidFill>
              </a:rPr>
              <a:t>0.5px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FA81455B-B664-4C3A-8225-6A2FC32D1F9F}"/>
              </a:ext>
            </a:extLst>
          </p:cNvPr>
          <p:cNvCxnSpPr>
            <a:cxnSpLocks/>
          </p:cNvCxnSpPr>
          <p:nvPr/>
        </p:nvCxnSpPr>
        <p:spPr>
          <a:xfrm>
            <a:off x="2658140" y="3795823"/>
            <a:ext cx="0" cy="361507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B798E24-3950-4D2D-A974-BE18FF3FA8E2}"/>
              </a:ext>
            </a:extLst>
          </p:cNvPr>
          <p:cNvSpPr txBox="1"/>
          <p:nvPr/>
        </p:nvSpPr>
        <p:spPr>
          <a:xfrm>
            <a:off x="1488559" y="3795823"/>
            <a:ext cx="2339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6">
                    <a:lumMod val="50000"/>
                  </a:schemeClr>
                </a:solidFill>
              </a:rPr>
              <a:t>1.25em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016AE3D8-5260-43FF-B106-07FED4D298BF}"/>
              </a:ext>
            </a:extLst>
          </p:cNvPr>
          <p:cNvCxnSpPr/>
          <p:nvPr/>
        </p:nvCxnSpPr>
        <p:spPr>
          <a:xfrm>
            <a:off x="2551814" y="1871330"/>
            <a:ext cx="0" cy="563526"/>
          </a:xfrm>
          <a:prstGeom prst="straightConnector1">
            <a:avLst/>
          </a:prstGeom>
          <a:ln w="76200">
            <a:solidFill>
              <a:schemeClr val="accent5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9D9E41BA-A6DE-475F-99C1-13CA53795997}"/>
              </a:ext>
            </a:extLst>
          </p:cNvPr>
          <p:cNvSpPr txBox="1"/>
          <p:nvPr/>
        </p:nvSpPr>
        <p:spPr>
          <a:xfrm>
            <a:off x="1524886" y="1925853"/>
            <a:ext cx="2500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5">
                    <a:lumMod val="75000"/>
                  </a:schemeClr>
                </a:solidFill>
              </a:rPr>
              <a:t>1.5em</a:t>
            </a: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E4A873DB-1810-4269-8A41-78C12A13EC12}"/>
              </a:ext>
            </a:extLst>
          </p:cNvPr>
          <p:cNvCxnSpPr>
            <a:cxnSpLocks/>
          </p:cNvCxnSpPr>
          <p:nvPr/>
        </p:nvCxnSpPr>
        <p:spPr>
          <a:xfrm>
            <a:off x="2658140" y="2999107"/>
            <a:ext cx="0" cy="429893"/>
          </a:xfrm>
          <a:prstGeom prst="straightConnector1">
            <a:avLst/>
          </a:prstGeom>
          <a:ln w="38100">
            <a:solidFill>
              <a:schemeClr val="accent3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4D3E356B-C02D-483D-AFD6-16F2CA30A76A}"/>
              </a:ext>
            </a:extLst>
          </p:cNvPr>
          <p:cNvSpPr txBox="1"/>
          <p:nvPr/>
        </p:nvSpPr>
        <p:spPr>
          <a:xfrm>
            <a:off x="1637414" y="2978327"/>
            <a:ext cx="1828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3">
                    <a:lumMod val="50000"/>
                  </a:schemeClr>
                </a:solidFill>
              </a:rPr>
              <a:t>0.9em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E395F68A-D404-4938-8413-1D817FA2DDF7}"/>
              </a:ext>
            </a:extLst>
          </p:cNvPr>
          <p:cNvSpPr txBox="1"/>
          <p:nvPr/>
        </p:nvSpPr>
        <p:spPr>
          <a:xfrm>
            <a:off x="30404" y="5467851"/>
            <a:ext cx="121615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/>
              <a:t>Questa cattura schermo (così come quella della slide precedente) è stata effettuata senza connessione ad internet per far vedere che è previsto questo specifico font di recupero nel caso in cui i font previsti non fossero reperibili.</a:t>
            </a:r>
          </a:p>
        </p:txBody>
      </p:sp>
    </p:spTree>
    <p:extLst>
      <p:ext uri="{BB962C8B-B14F-4D97-AF65-F5344CB8AC3E}">
        <p14:creationId xmlns:p14="http://schemas.microsoft.com/office/powerpoint/2010/main" val="3276069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7986CCB6-0A83-442C-BD59-9BA30498DCFA}"/>
              </a:ext>
            </a:extLst>
          </p:cNvPr>
          <p:cNvSpPr txBox="1"/>
          <p:nvPr/>
        </p:nvSpPr>
        <p:spPr>
          <a:xfrm>
            <a:off x="3047114" y="552893"/>
            <a:ext cx="6097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b="1" dirty="0" err="1"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Footer</a:t>
            </a:r>
            <a:endParaRPr lang="it-IT" sz="3200" b="1" cap="none" spc="0" dirty="0">
              <a:ln w="12700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DA50F9A-7992-4CD9-895A-A2F43B6A03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5" y="1679928"/>
            <a:ext cx="11995150" cy="1552354"/>
          </a:xfrm>
          <a:prstGeom prst="rect">
            <a:avLst/>
          </a:prstGeom>
        </p:spPr>
      </p:pic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DDFC3F0F-3BE0-499E-9678-D4C5E7AD6E93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6096000" y="1679928"/>
            <a:ext cx="0" cy="1552354"/>
          </a:xfrm>
          <a:prstGeom prst="straightConnector1">
            <a:avLst/>
          </a:prstGeom>
          <a:ln w="76200">
            <a:solidFill>
              <a:srgbClr val="5FEEFD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F3913D0-284F-4335-8418-001184D08D27}"/>
              </a:ext>
            </a:extLst>
          </p:cNvPr>
          <p:cNvSpPr txBox="1"/>
          <p:nvPr/>
        </p:nvSpPr>
        <p:spPr>
          <a:xfrm>
            <a:off x="5018567" y="2225272"/>
            <a:ext cx="2977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5FEEFD"/>
                </a:solidFill>
              </a:rPr>
              <a:t>145px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D30FD39C-EDF3-4F6F-AE2C-0BB50B102146}"/>
              </a:ext>
            </a:extLst>
          </p:cNvPr>
          <p:cNvCxnSpPr>
            <a:cxnSpLocks/>
          </p:cNvCxnSpPr>
          <p:nvPr/>
        </p:nvCxnSpPr>
        <p:spPr>
          <a:xfrm flipV="1">
            <a:off x="199177" y="2764482"/>
            <a:ext cx="470674" cy="304414"/>
          </a:xfrm>
          <a:prstGeom prst="line">
            <a:avLst/>
          </a:prstGeom>
          <a:ln w="7620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3592B9D-EC69-4A3C-8A1A-1FABB665BDCA}"/>
              </a:ext>
            </a:extLst>
          </p:cNvPr>
          <p:cNvSpPr txBox="1"/>
          <p:nvPr/>
        </p:nvSpPr>
        <p:spPr>
          <a:xfrm>
            <a:off x="669851" y="2764482"/>
            <a:ext cx="2594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rgbClr val="FFFF00"/>
                </a:solidFill>
              </a:rPr>
              <a:t>Border-radius:5px</a:t>
            </a:r>
          </a:p>
        </p:txBody>
      </p:sp>
      <p:sp>
        <p:nvSpPr>
          <p:cNvPr id="12" name="Parentesi quadra aperta 11">
            <a:extLst>
              <a:ext uri="{FF2B5EF4-FFF2-40B4-BE49-F238E27FC236}">
                <a16:creationId xmlns:a16="http://schemas.microsoft.com/office/drawing/2014/main" id="{8A5B6CEF-6EBC-4ECA-9F53-7D49C10DD849}"/>
              </a:ext>
            </a:extLst>
          </p:cNvPr>
          <p:cNvSpPr/>
          <p:nvPr/>
        </p:nvSpPr>
        <p:spPr>
          <a:xfrm rot="10800000">
            <a:off x="10409274" y="2225272"/>
            <a:ext cx="45719" cy="347807"/>
          </a:xfrm>
          <a:prstGeom prst="leftBracket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03F87F2-1BB0-48B8-A508-C1E2E998B615}"/>
              </a:ext>
            </a:extLst>
          </p:cNvPr>
          <p:cNvSpPr txBox="1"/>
          <p:nvPr/>
        </p:nvSpPr>
        <p:spPr>
          <a:xfrm>
            <a:off x="10454993" y="2168342"/>
            <a:ext cx="2551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1.5em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C550963-C6F7-47E3-A9C9-5F59AF60318B}"/>
              </a:ext>
            </a:extLst>
          </p:cNvPr>
          <p:cNvSpPr txBox="1"/>
          <p:nvPr/>
        </p:nvSpPr>
        <p:spPr>
          <a:xfrm>
            <a:off x="478060" y="4024738"/>
            <a:ext cx="112358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Un </a:t>
            </a:r>
            <a:r>
              <a:rPr lang="it-IT" dirty="0" err="1"/>
              <a:t>flex</a:t>
            </a:r>
            <a:r>
              <a:rPr lang="it-IT" dirty="0"/>
              <a:t> container disposto in orizzontale che contiene 2 </a:t>
            </a:r>
            <a:r>
              <a:rPr lang="it-IT" dirty="0" err="1"/>
              <a:t>flex</a:t>
            </a:r>
            <a:r>
              <a:rPr lang="it-IT" dirty="0"/>
              <a:t> items, corrispondenti a 2 &lt;</a:t>
            </a:r>
            <a:r>
              <a:rPr lang="it-IT" dirty="0" err="1"/>
              <a:t>span</a:t>
            </a:r>
            <a:r>
              <a:rPr lang="it-IT" dirty="0"/>
              <a:t>&gt;, posizionati tramite ‘</a:t>
            </a:r>
            <a:r>
              <a:rPr lang="it-IT" dirty="0" err="1"/>
              <a:t>justify-content:space-around</a:t>
            </a:r>
            <a:r>
              <a:rPr lang="it-IT" dirty="0"/>
              <a:t>’ ed ‘</a:t>
            </a:r>
            <a:r>
              <a:rPr lang="it-IT" dirty="0" err="1"/>
              <a:t>align-items:center</a:t>
            </a:r>
            <a:r>
              <a:rPr lang="it-IT" dirty="0"/>
              <a:t>’. </a:t>
            </a:r>
          </a:p>
          <a:p>
            <a:pPr algn="ctr"/>
            <a:r>
              <a:rPr lang="it-IT" dirty="0"/>
              <a:t>Il font è </a:t>
            </a:r>
            <a:r>
              <a:rPr lang="it-IT" dirty="0" err="1"/>
              <a:t>Nanum</a:t>
            </a:r>
            <a:r>
              <a:rPr lang="it-IT" dirty="0"/>
              <a:t> </a:t>
            </a:r>
            <a:r>
              <a:rPr lang="it-IT" dirty="0" err="1"/>
              <a:t>Gothic</a:t>
            </a:r>
            <a:r>
              <a:rPr lang="it-IT" dirty="0"/>
              <a:t> in corsivo.</a:t>
            </a:r>
          </a:p>
        </p:txBody>
      </p:sp>
    </p:spTree>
    <p:extLst>
      <p:ext uri="{BB962C8B-B14F-4D97-AF65-F5344CB8AC3E}">
        <p14:creationId xmlns:p14="http://schemas.microsoft.com/office/powerpoint/2010/main" val="1680442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099734B2-0C0A-4E2F-A89C-B2CF26DF6134}"/>
              </a:ext>
            </a:extLst>
          </p:cNvPr>
          <p:cNvSpPr txBox="1"/>
          <p:nvPr/>
        </p:nvSpPr>
        <p:spPr>
          <a:xfrm>
            <a:off x="3047113" y="1350334"/>
            <a:ext cx="6097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b="1" cap="none" spc="0" dirty="0"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Media query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73F1CE8-7851-4C8A-A0F2-F1D58D703D1C}"/>
              </a:ext>
            </a:extLst>
          </p:cNvPr>
          <p:cNvSpPr txBox="1"/>
          <p:nvPr/>
        </p:nvSpPr>
        <p:spPr>
          <a:xfrm>
            <a:off x="258725" y="2644170"/>
            <a:ext cx="116745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/>
              <a:t>Sono state inserite 2 media query che servono a ridimensionare il </a:t>
            </a:r>
            <a:r>
              <a:rPr lang="it-IT" sz="2400" dirty="0" err="1"/>
              <a:t>title</a:t>
            </a:r>
            <a:r>
              <a:rPr lang="it-IT" sz="2400" dirty="0"/>
              <a:t> in funzione della grandezza del dispositivo usato. Una delle due inoltre modifica anche l’orientamento dei </a:t>
            </a:r>
            <a:r>
              <a:rPr lang="it-IT" sz="2400" dirty="0" err="1"/>
              <a:t>flex</a:t>
            </a:r>
            <a:r>
              <a:rPr lang="it-IT" sz="2400" dirty="0"/>
              <a:t> container #links e #content, ed i loro </a:t>
            </a:r>
            <a:r>
              <a:rPr lang="it-IT" sz="2400" dirty="0" err="1"/>
              <a:t>flex</a:t>
            </a:r>
            <a:r>
              <a:rPr lang="it-IT" sz="2400" dirty="0"/>
              <a:t> items, per portare tutta questa parte della pagina in verticale.</a:t>
            </a:r>
          </a:p>
        </p:txBody>
      </p:sp>
    </p:spTree>
    <p:extLst>
      <p:ext uri="{BB962C8B-B14F-4D97-AF65-F5344CB8AC3E}">
        <p14:creationId xmlns:p14="http://schemas.microsoft.com/office/powerpoint/2010/main" val="19729663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iunioni ione">
  <a:themeElements>
    <a:clrScheme name="Riunioni ione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Riunioni ione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iunioni ione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480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Riunioni ione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alice borrata</dc:creator>
  <cp:lastModifiedBy>alice borrata</cp:lastModifiedBy>
  <cp:revision>81</cp:revision>
  <dcterms:created xsi:type="dcterms:W3CDTF">2021-03-19T16:40:58Z</dcterms:created>
  <dcterms:modified xsi:type="dcterms:W3CDTF">2021-03-27T13:49:21Z</dcterms:modified>
</cp:coreProperties>
</file>